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Spectral"/>
      <p:regular r:id="rId27"/>
      <p:bold r:id="rId28"/>
      <p:italic r:id="rId29"/>
      <p:boldItalic r:id="rId30"/>
    </p:embeddedFont>
    <p:embeddedFont>
      <p:font typeface="Roboto Mono"/>
      <p:regular r:id="rId31"/>
      <p:bold r:id="rId32"/>
      <p:italic r:id="rId33"/>
      <p:boldItalic r:id="rId34"/>
    </p:embeddedFont>
    <p:embeddedFont>
      <p:font typeface="Comfortaa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7" roundtripDataSignature="AMtx7mi7Rps5oyMwmBDZ1nCESaMzZCIV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Spectral-bold.fntdata"/><Relationship Id="rId27" Type="http://schemas.openxmlformats.org/officeDocument/2006/relationships/font" Target="fonts/Spectral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ectral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font" Target="fonts/Spectral-boldItalic.fntdata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35" Type="http://schemas.openxmlformats.org/officeDocument/2006/relationships/font" Target="fonts/Comfortaa-regular.fntdata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Comfortaa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4100" y="0"/>
            <a:ext cx="2109899" cy="181377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>
            <p:ph type="ctrTitle"/>
          </p:nvPr>
        </p:nvSpPr>
        <p:spPr>
          <a:xfrm>
            <a:off x="305400" y="933975"/>
            <a:ext cx="8533200" cy="367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5200"/>
              <a:buNone/>
            </a:pPr>
            <a:r>
              <a:rPr b="1" i="1" lang="en" sz="2155"/>
              <a:t>"</a:t>
            </a:r>
            <a:r>
              <a:rPr b="1" i="1" lang="en" sz="2155"/>
              <a:t>Financial Data Classification Using Machine Learning</a:t>
            </a:r>
            <a:r>
              <a:rPr b="1" i="1" lang="en" sz="2155"/>
              <a:t>"</a:t>
            </a:r>
            <a:endParaRPr b="1" i="1" sz="855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5200"/>
              <a:buNone/>
            </a:pPr>
            <a:r>
              <a:rPr lang="en" sz="1322"/>
              <a:t> </a:t>
            </a:r>
            <a:r>
              <a:rPr i="1" lang="en" sz="1322"/>
              <a:t>"Enhancing Customer Insights Through Predictive Analytics"</a:t>
            </a:r>
            <a:endParaRPr i="1" sz="1322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i="1" sz="1322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sz="1322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 txBox="1"/>
          <p:nvPr/>
        </p:nvSpPr>
        <p:spPr>
          <a:xfrm>
            <a:off x="6694525" y="4217250"/>
            <a:ext cx="23739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1" sz="15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 </a:t>
            </a:r>
            <a:r>
              <a:rPr b="0" i="1" lang="en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By- Khushi Painter</a:t>
            </a:r>
            <a:endParaRPr b="0" i="1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1" sz="15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4100" y="0"/>
            <a:ext cx="2109899" cy="181377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 txBox="1"/>
          <p:nvPr>
            <p:ph type="ctrTitle"/>
          </p:nvPr>
        </p:nvSpPr>
        <p:spPr>
          <a:xfrm>
            <a:off x="311700" y="279275"/>
            <a:ext cx="48234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" sz="4000">
                <a:latin typeface="Spectral"/>
                <a:ea typeface="Spectral"/>
                <a:cs typeface="Spectral"/>
                <a:sym typeface="Spectral"/>
              </a:rPr>
              <a:t>Introduction</a:t>
            </a:r>
            <a:endParaRPr b="1" i="1" sz="40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3" name="Google Shape;63;p2"/>
          <p:cNvSpPr txBox="1"/>
          <p:nvPr>
            <p:ph idx="1" type="subTitle"/>
          </p:nvPr>
        </p:nvSpPr>
        <p:spPr>
          <a:xfrm>
            <a:off x="927900" y="1152675"/>
            <a:ext cx="8216100" cy="3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78913"/>
              <a:buNone/>
            </a:pPr>
            <a:r>
              <a:rPr b="1" i="1" lang="en" sz="6260">
                <a:solidFill>
                  <a:schemeClr val="dk1"/>
                </a:solidFill>
              </a:rPr>
              <a:t>What is Financial Data Classification?</a:t>
            </a:r>
            <a:endParaRPr b="1" i="1" sz="626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i="1" lang="en" sz="5600">
                <a:solidFill>
                  <a:schemeClr val="dk1"/>
                </a:solidFill>
              </a:rPr>
              <a:t> It involves understanding customer financial behavior by analyzing their financial transactions, investments and demographics.</a:t>
            </a:r>
            <a:endParaRPr i="1" sz="56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i="1" lang="en" sz="5600">
                <a:solidFill>
                  <a:schemeClr val="dk1"/>
                </a:solidFill>
              </a:rPr>
              <a:t>Using machine learning, we can identify patterns and predict customer revenue categories, helping businesses make informed decisions.</a:t>
            </a:r>
            <a:endParaRPr sz="50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78913"/>
              <a:buNone/>
            </a:pPr>
            <a:r>
              <a:rPr b="1" i="1" lang="en" sz="6260">
                <a:solidFill>
                  <a:schemeClr val="dk1"/>
                </a:solidFill>
              </a:rPr>
              <a:t>Why This Project is Important:</a:t>
            </a:r>
            <a:endParaRPr b="1" i="1" sz="6260">
              <a:solidFill>
                <a:schemeClr val="dk1"/>
              </a:solidFill>
            </a:endParaRPr>
          </a:p>
          <a:p>
            <a:pPr indent="-32163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i="1" lang="en" sz="5860">
                <a:solidFill>
                  <a:schemeClr val="dk1"/>
                </a:solidFill>
              </a:rPr>
              <a:t>Targeting High-Value Customers:</a:t>
            </a:r>
            <a:r>
              <a:rPr i="1" lang="en" sz="5860">
                <a:solidFill>
                  <a:schemeClr val="dk1"/>
                </a:solidFill>
              </a:rPr>
              <a:t> </a:t>
            </a:r>
            <a:r>
              <a:rPr i="1" lang="en" sz="5600">
                <a:solidFill>
                  <a:schemeClr val="dk1"/>
                </a:solidFill>
              </a:rPr>
              <a:t>Helps businesses identify and prioritize high-revenue customers.</a:t>
            </a:r>
            <a:endParaRPr i="1" sz="5600">
              <a:solidFill>
                <a:schemeClr val="dk1"/>
              </a:solidFill>
            </a:endParaRPr>
          </a:p>
          <a:p>
            <a:pPr indent="-3216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i="1" lang="en" sz="5860">
                <a:solidFill>
                  <a:schemeClr val="dk1"/>
                </a:solidFill>
              </a:rPr>
              <a:t>Improved Decision-Making:</a:t>
            </a:r>
            <a:r>
              <a:rPr i="1" lang="en" sz="5860">
                <a:solidFill>
                  <a:schemeClr val="dk1"/>
                </a:solidFill>
              </a:rPr>
              <a:t> It improves efficiency and profits by using data insights.</a:t>
            </a:r>
            <a:endParaRPr i="1" sz="586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4100" y="0"/>
            <a:ext cx="2109899" cy="181377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 txBox="1"/>
          <p:nvPr>
            <p:ph type="ctrTitle"/>
          </p:nvPr>
        </p:nvSpPr>
        <p:spPr>
          <a:xfrm>
            <a:off x="374575" y="247325"/>
            <a:ext cx="6018000" cy="90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i="1" lang="en" sz="4000">
                <a:latin typeface="Spectral"/>
                <a:ea typeface="Spectral"/>
                <a:cs typeface="Spectral"/>
                <a:sym typeface="Spectral"/>
              </a:rPr>
              <a:t>About the Project</a:t>
            </a:r>
            <a:endParaRPr b="1" i="1" sz="40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70" name="Google Shape;70;p3"/>
          <p:cNvSpPr txBox="1"/>
          <p:nvPr>
            <p:ph idx="1" type="subTitle"/>
          </p:nvPr>
        </p:nvSpPr>
        <p:spPr>
          <a:xfrm>
            <a:off x="950100" y="1366800"/>
            <a:ext cx="8193900" cy="3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chemeClr val="dk1"/>
                </a:solidFill>
              </a:rPr>
              <a:t>Project Overview:</a:t>
            </a:r>
            <a:endParaRPr b="1" i="1" sz="16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en" sz="1400">
                <a:solidFill>
                  <a:schemeClr val="dk1"/>
                </a:solidFill>
              </a:rPr>
              <a:t>This project focuses on predicting customer revenue categories using machine learning.</a:t>
            </a:r>
            <a:endParaRPr i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en" sz="1400">
                <a:solidFill>
                  <a:schemeClr val="dk1"/>
                </a:solidFill>
              </a:rPr>
              <a:t>It uses financial, investment, and demographic data to group customers accurately.</a:t>
            </a:r>
            <a:endParaRPr i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b="1" i="1" lang="en" sz="1600">
                <a:solidFill>
                  <a:schemeClr val="dk1"/>
                </a:solidFill>
              </a:rPr>
              <a:t>Key Highlights:</a:t>
            </a:r>
            <a:endParaRPr sz="1100"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en" sz="1400">
                <a:solidFill>
                  <a:schemeClr val="dk1"/>
                </a:solidFill>
              </a:rPr>
              <a:t>Implements multiple machine learning models for accuracy.</a:t>
            </a:r>
            <a:endParaRPr i="1" sz="1400"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en" sz="1400">
                <a:solidFill>
                  <a:schemeClr val="dk1"/>
                </a:solidFill>
              </a:rPr>
              <a:t>Provides insights for better decision-making in financial services.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4100" y="0"/>
            <a:ext cx="2109899" cy="1813773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"/>
          <p:cNvSpPr txBox="1"/>
          <p:nvPr>
            <p:ph type="title"/>
          </p:nvPr>
        </p:nvSpPr>
        <p:spPr>
          <a:xfrm>
            <a:off x="311700" y="2438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i="1" lang="en" sz="4480">
                <a:latin typeface="Spectral"/>
                <a:ea typeface="Spectral"/>
                <a:cs typeface="Spectral"/>
                <a:sym typeface="Spectral"/>
              </a:rPr>
              <a:t>Problem Statement</a:t>
            </a:r>
            <a:endParaRPr b="1"/>
          </a:p>
        </p:txBody>
      </p:sp>
      <p:sp>
        <p:nvSpPr>
          <p:cNvPr id="77" name="Google Shape;77;p4"/>
          <p:cNvSpPr txBox="1"/>
          <p:nvPr>
            <p:ph idx="1" type="body"/>
          </p:nvPr>
        </p:nvSpPr>
        <p:spPr>
          <a:xfrm>
            <a:off x="925200" y="1278250"/>
            <a:ext cx="8095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chemeClr val="dk1"/>
                </a:solidFill>
              </a:rPr>
              <a:t>Objective:</a:t>
            </a:r>
            <a:endParaRPr b="1" i="1" sz="16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en" sz="1400">
                <a:solidFill>
                  <a:schemeClr val="dk1"/>
                </a:solidFill>
              </a:rPr>
              <a:t> To predict customer revenue categories using financial and demographic data.</a:t>
            </a:r>
            <a:endParaRPr i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chemeClr val="dk1"/>
                </a:solidFill>
              </a:rPr>
              <a:t>Significance:</a:t>
            </a:r>
            <a:endParaRPr b="1" sz="12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en" sz="1400">
                <a:solidFill>
                  <a:schemeClr val="dk1"/>
                </a:solidFill>
              </a:rPr>
              <a:t>Identify high-value customers for strategic marketing.</a:t>
            </a:r>
            <a:endParaRPr i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en" sz="1400">
                <a:solidFill>
                  <a:schemeClr val="dk1"/>
                </a:solidFill>
              </a:rPr>
              <a:t>Helps reduce time and resource wastage by focusing on the right audience.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4100" y="0"/>
            <a:ext cx="2109899" cy="181377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 txBox="1"/>
          <p:nvPr>
            <p:ph type="title"/>
          </p:nvPr>
        </p:nvSpPr>
        <p:spPr>
          <a:xfrm>
            <a:off x="311700" y="168625"/>
            <a:ext cx="8520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i="1" lang="en" sz="4480">
                <a:latin typeface="Spectral"/>
                <a:ea typeface="Spectral"/>
                <a:cs typeface="Spectral"/>
                <a:sym typeface="Spectral"/>
              </a:rPr>
              <a:t>Data</a:t>
            </a:r>
            <a:r>
              <a:rPr b="1" lang="en"/>
              <a:t> </a:t>
            </a:r>
            <a:r>
              <a:rPr b="1" i="1" lang="en" sz="4480">
                <a:latin typeface="Spectral"/>
                <a:ea typeface="Spectral"/>
                <a:cs typeface="Spectral"/>
                <a:sym typeface="Spectral"/>
              </a:rPr>
              <a:t>Overview</a:t>
            </a:r>
            <a:endParaRPr b="1"/>
          </a:p>
        </p:txBody>
      </p:sp>
      <p:sp>
        <p:nvSpPr>
          <p:cNvPr id="84" name="Google Shape;84;p5"/>
          <p:cNvSpPr txBox="1"/>
          <p:nvPr>
            <p:ph idx="1" type="body"/>
          </p:nvPr>
        </p:nvSpPr>
        <p:spPr>
          <a:xfrm>
            <a:off x="915300" y="1098900"/>
            <a:ext cx="8228700" cy="39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i="1" lang="en" sz="1500">
                <a:solidFill>
                  <a:schemeClr val="dk1"/>
                </a:solidFill>
              </a:rPr>
              <a:t>Dataset Summary:</a:t>
            </a:r>
            <a:endParaRPr b="1" i="1" sz="154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i="1" lang="en" sz="1500">
                <a:solidFill>
                  <a:schemeClr val="dk1"/>
                </a:solidFill>
              </a:rPr>
              <a:t>Dimensions:</a:t>
            </a:r>
            <a:r>
              <a:rPr i="1" lang="en" sz="1400">
                <a:solidFill>
                  <a:schemeClr val="dk1"/>
                </a:solidFill>
              </a:rPr>
              <a:t> [ </a:t>
            </a:r>
            <a:r>
              <a:rPr i="1" lang="en" sz="1400">
                <a:solidFill>
                  <a:schemeClr val="dk1"/>
                </a:solidFill>
                <a:highlight>
                  <a:schemeClr val="lt1"/>
                </a:highlight>
              </a:rPr>
              <a:t>8124 rows &amp; 32 columns]</a:t>
            </a:r>
            <a:endParaRPr i="1" sz="1400">
              <a:solidFill>
                <a:schemeClr val="dk1"/>
              </a:solidFill>
            </a:endParaRPr>
          </a:p>
          <a:p>
            <a:pPr indent="-31162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8"/>
              <a:buChar char="●"/>
            </a:pPr>
            <a:r>
              <a:rPr b="1" i="1" lang="en" sz="1500">
                <a:solidFill>
                  <a:schemeClr val="dk1"/>
                </a:solidFill>
              </a:rPr>
              <a:t>Target Variable:</a:t>
            </a:r>
            <a:r>
              <a:rPr i="1" lang="en" sz="1400">
                <a:solidFill>
                  <a:schemeClr val="dk1"/>
                </a:solidFill>
              </a:rPr>
              <a:t> 'Revenue.Grid' (Binary classification)</a:t>
            </a:r>
            <a:endParaRPr i="1" sz="118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i="1" lang="en" sz="1500">
                <a:solidFill>
                  <a:schemeClr val="dk1"/>
                </a:solidFill>
              </a:rPr>
              <a:t>Feature Categories:</a:t>
            </a:r>
            <a:endParaRPr b="1" sz="952">
              <a:solidFill>
                <a:schemeClr val="dk1"/>
              </a:solidFill>
            </a:endParaRPr>
          </a:p>
          <a:p>
            <a:pPr indent="-31162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8"/>
              <a:buChar char="●"/>
            </a:pPr>
            <a:r>
              <a:rPr b="1" i="1" lang="en" sz="1500">
                <a:solidFill>
                  <a:schemeClr val="dk1"/>
                </a:solidFill>
              </a:rPr>
              <a:t>Demographics:</a:t>
            </a:r>
            <a:r>
              <a:rPr i="1" lang="en" sz="1500">
                <a:solidFill>
                  <a:schemeClr val="dk1"/>
                </a:solidFill>
              </a:rPr>
              <a:t> </a:t>
            </a:r>
            <a:r>
              <a:rPr i="1" lang="en" sz="1185">
                <a:solidFill>
                  <a:schemeClr val="dk1"/>
                </a:solidFill>
              </a:rPr>
              <a:t> </a:t>
            </a:r>
            <a:r>
              <a:rPr i="1"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status</a:t>
            </a:r>
            <a:r>
              <a:rPr i="1" lang="en" sz="1400">
                <a:solidFill>
                  <a:schemeClr val="dk1"/>
                </a:solidFill>
              </a:rPr>
              <a:t>,  </a:t>
            </a:r>
            <a:r>
              <a:rPr i="1"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children</a:t>
            </a:r>
            <a:r>
              <a:rPr i="1" lang="en" sz="1400">
                <a:solidFill>
                  <a:schemeClr val="dk1"/>
                </a:solidFill>
              </a:rPr>
              <a:t>,  </a:t>
            </a:r>
            <a:r>
              <a:rPr i="1"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gender</a:t>
            </a:r>
            <a:r>
              <a:rPr i="1" lang="en" sz="1400">
                <a:solidFill>
                  <a:schemeClr val="dk1"/>
                </a:solidFill>
              </a:rPr>
              <a:t>,  </a:t>
            </a:r>
            <a:r>
              <a:rPr i="1"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region, occupation, occupation_partner, home_status, family_income, age_band.</a:t>
            </a:r>
            <a:endParaRPr i="1" sz="1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62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8"/>
              <a:buChar char="●"/>
            </a:pPr>
            <a:r>
              <a:rPr b="1" i="1" lang="en" sz="1500">
                <a:solidFill>
                  <a:schemeClr val="dk1"/>
                </a:solidFill>
              </a:rPr>
              <a:t>Financial Metrics:</a:t>
            </a:r>
            <a:r>
              <a:rPr i="1" lang="en" sz="1107">
                <a:solidFill>
                  <a:schemeClr val="dk1"/>
                </a:solidFill>
              </a:rPr>
              <a:t> </a:t>
            </a:r>
            <a:r>
              <a:rPr i="1"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Average.Credit.Card.Transaction</a:t>
            </a:r>
            <a:r>
              <a:rPr i="1" lang="en" sz="1400">
                <a:solidFill>
                  <a:schemeClr val="dk1"/>
                </a:solidFill>
              </a:rPr>
              <a:t>,  </a:t>
            </a:r>
            <a:r>
              <a:rPr i="1"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Balance.Transfer</a:t>
            </a:r>
            <a:r>
              <a:rPr i="1" lang="en" sz="1400">
                <a:solidFill>
                  <a:schemeClr val="dk1"/>
                </a:solidFill>
              </a:rPr>
              <a:t>, </a:t>
            </a:r>
            <a:r>
              <a:rPr i="1"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Term.Deposit</a:t>
            </a:r>
            <a:r>
              <a:rPr i="1" lang="en" sz="1400">
                <a:solidFill>
                  <a:schemeClr val="dk1"/>
                </a:solidFill>
              </a:rPr>
              <a:t>,  </a:t>
            </a:r>
            <a:r>
              <a:rPr i="1"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Portfolio.Balance, Average.A.C.Balance.</a:t>
            </a:r>
            <a:endParaRPr i="1" sz="1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62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8"/>
              <a:buChar char="●"/>
            </a:pPr>
            <a:r>
              <a:rPr b="1" i="1" lang="en" sz="1500">
                <a:solidFill>
                  <a:schemeClr val="dk1"/>
                </a:solidFill>
              </a:rPr>
              <a:t>Investments:</a:t>
            </a:r>
            <a:r>
              <a:rPr i="1" lang="en" sz="1262">
                <a:solidFill>
                  <a:schemeClr val="dk1"/>
                </a:solidFill>
              </a:rPr>
              <a:t> </a:t>
            </a:r>
            <a:r>
              <a:rPr i="1"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Investment.in.Equity</a:t>
            </a:r>
            <a:r>
              <a:rPr i="1" lang="en" sz="1400">
                <a:solidFill>
                  <a:schemeClr val="dk1"/>
                </a:solidFill>
              </a:rPr>
              <a:t>,</a:t>
            </a:r>
            <a:r>
              <a:rPr i="1"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Investment.in.Mutual.Fund, Investment.Tax.Saving.Bond, Investment.in.Commudity</a:t>
            </a:r>
            <a:r>
              <a:rPr i="1" lang="en" sz="1400">
                <a:solidFill>
                  <a:schemeClr val="dk1"/>
                </a:solidFill>
              </a:rPr>
              <a:t>, </a:t>
            </a:r>
            <a:r>
              <a:rPr i="1"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Investment.in.Derivative, Home.Loan.</a:t>
            </a:r>
            <a:endParaRPr i="1" sz="1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i="1" lang="en" sz="1500">
                <a:solidFill>
                  <a:schemeClr val="dk1"/>
                </a:solidFill>
              </a:rPr>
              <a:t>Insurance:</a:t>
            </a:r>
            <a:r>
              <a:rPr b="1" lang="en" sz="1287">
                <a:solidFill>
                  <a:schemeClr val="dk1"/>
                </a:solidFill>
              </a:rPr>
              <a:t> </a:t>
            </a:r>
            <a:r>
              <a:rPr i="1"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Life.Insurance, Medical.Insurance.</a:t>
            </a:r>
            <a:endParaRPr i="1" sz="1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62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8"/>
              <a:buChar char="●"/>
            </a:pPr>
            <a:r>
              <a:rPr b="1" i="1" lang="en" sz="1500">
                <a:solidFill>
                  <a:schemeClr val="dk1"/>
                </a:solidFill>
              </a:rPr>
              <a:t>Other Details:</a:t>
            </a:r>
            <a:r>
              <a:rPr i="1" lang="en" sz="1107">
                <a:solidFill>
                  <a:schemeClr val="dk1"/>
                </a:solidFill>
              </a:rPr>
              <a:t> </a:t>
            </a:r>
            <a:r>
              <a:rPr i="1"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year_last_moved,</a:t>
            </a:r>
            <a:r>
              <a:rPr i="1" lang="en" sz="1400">
                <a:solidFill>
                  <a:schemeClr val="dk1"/>
                </a:solidFill>
              </a:rPr>
              <a:t>  </a:t>
            </a:r>
            <a:r>
              <a:rPr i="1"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self_employed</a:t>
            </a:r>
            <a:r>
              <a:rPr i="1" lang="en" sz="1400">
                <a:solidFill>
                  <a:schemeClr val="dk1"/>
                </a:solidFill>
              </a:rPr>
              <a:t>, </a:t>
            </a:r>
            <a:r>
              <a:rPr i="1"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self_employed_partner,</a:t>
            </a:r>
            <a:r>
              <a:rPr i="1" lang="en" sz="1400">
                <a:solidFill>
                  <a:schemeClr val="dk1"/>
                </a:solidFill>
              </a:rPr>
              <a:t> </a:t>
            </a:r>
            <a:r>
              <a:rPr i="1"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TVarea, Online.Purchase.Amount, post_area, post_code.</a:t>
            </a:r>
            <a:endParaRPr i="1" sz="1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i="1" sz="118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4100" y="0"/>
            <a:ext cx="2109899" cy="181377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 txBox="1"/>
          <p:nvPr>
            <p:ph idx="1" type="body"/>
          </p:nvPr>
        </p:nvSpPr>
        <p:spPr>
          <a:xfrm>
            <a:off x="311700" y="1939525"/>
            <a:ext cx="8520600" cy="25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n" sz="2855">
                <a:solidFill>
                  <a:schemeClr val="dk1"/>
                </a:solidFill>
              </a:rPr>
              <a:t>Key Steps in Data Preprocessing</a:t>
            </a:r>
            <a:br>
              <a:rPr b="1" lang="en" sz="1300">
                <a:solidFill>
                  <a:schemeClr val="dk1"/>
                </a:solidFill>
              </a:rPr>
            </a:br>
            <a:r>
              <a:rPr i="1" lang="en" sz="162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i="1" lang="en" sz="1522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"Enhancing Data Quality for Better Insights"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 i="1" sz="325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1200" y="0"/>
            <a:ext cx="1999500" cy="1429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 txBox="1"/>
          <p:nvPr>
            <p:ph type="title"/>
          </p:nvPr>
        </p:nvSpPr>
        <p:spPr>
          <a:xfrm>
            <a:off x="219100" y="197025"/>
            <a:ext cx="85206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i="1" lang="en" sz="4080">
                <a:latin typeface="Spectral"/>
                <a:ea typeface="Spectral"/>
                <a:cs typeface="Spectral"/>
                <a:sym typeface="Spectral"/>
              </a:rPr>
              <a:t>Preprocessing Workflow:</a:t>
            </a:r>
            <a:endParaRPr b="1" i="1" sz="408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97" name="Google Shape;97;p7"/>
          <p:cNvSpPr txBox="1"/>
          <p:nvPr>
            <p:ph idx="1" type="body"/>
          </p:nvPr>
        </p:nvSpPr>
        <p:spPr>
          <a:xfrm>
            <a:off x="570100" y="783900"/>
            <a:ext cx="8520600" cy="4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17704"/>
              <a:buNone/>
            </a:pPr>
            <a:r>
              <a:t/>
            </a:r>
            <a:endParaRPr b="1" i="1" sz="6117">
              <a:solidFill>
                <a:schemeClr val="dk1"/>
              </a:solidFill>
            </a:endParaRPr>
          </a:p>
          <a:p>
            <a:pPr indent="-319398" lvl="0" marL="5715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3460"/>
              <a:buAutoNum type="arabicParenR"/>
            </a:pPr>
            <a:r>
              <a:rPr b="1" i="1" lang="en" sz="6117">
                <a:solidFill>
                  <a:schemeClr val="dk1"/>
                </a:solidFill>
              </a:rPr>
              <a:t>Data Loading: </a:t>
            </a:r>
            <a:r>
              <a:rPr i="1" lang="en" sz="5600">
                <a:solidFill>
                  <a:schemeClr val="dk1"/>
                </a:solidFill>
              </a:rPr>
              <a:t>We have two datasets- </a:t>
            </a:r>
            <a:r>
              <a:rPr b="1" i="1" lang="en" sz="5600">
                <a:solidFill>
                  <a:schemeClr val="dk1"/>
                </a:solidFill>
              </a:rPr>
              <a:t>train</a:t>
            </a:r>
            <a:r>
              <a:rPr i="1" lang="en" sz="5600">
                <a:solidFill>
                  <a:schemeClr val="dk1"/>
                </a:solidFill>
              </a:rPr>
              <a:t> and </a:t>
            </a:r>
            <a:r>
              <a:rPr b="1" i="1" lang="en" sz="5600">
                <a:solidFill>
                  <a:schemeClr val="dk1"/>
                </a:solidFill>
              </a:rPr>
              <a:t>test</a:t>
            </a:r>
            <a:r>
              <a:rPr i="1" lang="en" sz="5600">
                <a:solidFill>
                  <a:schemeClr val="dk1"/>
                </a:solidFill>
              </a:rPr>
              <a:t>. The train dataset is loaded as </a:t>
            </a:r>
            <a:r>
              <a:rPr b="1" i="1" lang="en" sz="5600">
                <a:solidFill>
                  <a:schemeClr val="dk1"/>
                </a:solidFill>
              </a:rPr>
              <a:t>fintrain</a:t>
            </a:r>
            <a:r>
              <a:rPr i="1" lang="en" sz="5600">
                <a:solidFill>
                  <a:schemeClr val="dk1"/>
                </a:solidFill>
              </a:rPr>
              <a:t>, and the test dataset is loaded as </a:t>
            </a:r>
            <a:r>
              <a:rPr b="1" i="1" lang="en" sz="5600">
                <a:solidFill>
                  <a:schemeClr val="dk1"/>
                </a:solidFill>
              </a:rPr>
              <a:t>finpredict</a:t>
            </a:r>
            <a:r>
              <a:rPr i="1" lang="en" sz="5600">
                <a:solidFill>
                  <a:schemeClr val="dk1"/>
                </a:solidFill>
              </a:rPr>
              <a:t>.</a:t>
            </a:r>
            <a:endParaRPr i="1" sz="5600">
              <a:solidFill>
                <a:schemeClr val="dk1"/>
              </a:solidFill>
            </a:endParaRPr>
          </a:p>
          <a:p>
            <a:pPr indent="-319399" lvl="0" marL="5715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3460"/>
              <a:buAutoNum type="arabicParenR"/>
            </a:pPr>
            <a:r>
              <a:rPr b="1" i="1" lang="en" sz="6117">
                <a:solidFill>
                  <a:schemeClr val="dk1"/>
                </a:solidFill>
              </a:rPr>
              <a:t>Train-Test Split:</a:t>
            </a:r>
            <a:r>
              <a:rPr i="1" lang="en" sz="5717">
                <a:solidFill>
                  <a:schemeClr val="dk1"/>
                </a:solidFill>
              </a:rPr>
              <a:t> Split the dataset into training (80%) and testing (20%) sets using train_test_split from sklearn.model_selection.</a:t>
            </a:r>
            <a:r>
              <a:rPr i="1" lang="en" sz="3200">
                <a:solidFill>
                  <a:schemeClr val="dk1"/>
                </a:solidFill>
              </a:rPr>
              <a:t> </a:t>
            </a:r>
            <a:endParaRPr i="1" sz="3200">
              <a:solidFill>
                <a:schemeClr val="dk1"/>
              </a:solidFill>
            </a:endParaRPr>
          </a:p>
          <a:p>
            <a:pPr indent="-317500" lvl="0" marL="8572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i="1" lang="en" sz="5600">
                <a:solidFill>
                  <a:schemeClr val="dk1"/>
                </a:solidFill>
              </a:rPr>
              <a:t>Source Column Addition:</a:t>
            </a:r>
            <a:endParaRPr b="1" i="1" sz="5600">
              <a:solidFill>
                <a:schemeClr val="dk1"/>
              </a:solidFill>
            </a:endParaRPr>
          </a:p>
          <a:p>
            <a:pPr indent="-317500" lvl="1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arenR"/>
            </a:pPr>
            <a:r>
              <a:rPr i="1" lang="en" sz="5600">
                <a:solidFill>
                  <a:schemeClr val="dk1"/>
                </a:solidFill>
              </a:rPr>
              <a:t>Added a new column </a:t>
            </a:r>
            <a:r>
              <a:rPr i="1" lang="en" sz="5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Source</a:t>
            </a:r>
            <a:r>
              <a:rPr i="1" lang="en" sz="5600">
                <a:solidFill>
                  <a:schemeClr val="dk1"/>
                </a:solidFill>
              </a:rPr>
              <a:t> to identify the origin of data:</a:t>
            </a:r>
            <a:endParaRPr i="1" sz="5600">
              <a:solidFill>
                <a:schemeClr val="dk1"/>
              </a:solidFill>
            </a:endParaRPr>
          </a:p>
          <a:p>
            <a:pPr indent="-317500" lvl="2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romanLcParenR"/>
            </a:pPr>
            <a:r>
              <a:rPr b="1" i="1" lang="en" sz="5600">
                <a:solidFill>
                  <a:schemeClr val="dk1"/>
                </a:solidFill>
              </a:rPr>
              <a:t>traindf:</a:t>
            </a:r>
            <a:r>
              <a:rPr i="1" lang="en" sz="5600">
                <a:solidFill>
                  <a:schemeClr val="dk1"/>
                </a:solidFill>
              </a:rPr>
              <a:t> for training data</a:t>
            </a:r>
            <a:endParaRPr i="1" sz="5600">
              <a:solidFill>
                <a:schemeClr val="dk1"/>
              </a:solidFill>
            </a:endParaRPr>
          </a:p>
          <a:p>
            <a:pPr indent="-317500" lvl="2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romanLcParenR"/>
            </a:pPr>
            <a:r>
              <a:rPr b="1" i="1" lang="en" sz="5600">
                <a:solidFill>
                  <a:schemeClr val="dk1"/>
                </a:solidFill>
              </a:rPr>
              <a:t>testdf:</a:t>
            </a:r>
            <a:r>
              <a:rPr i="1" lang="en" sz="5600">
                <a:solidFill>
                  <a:schemeClr val="dk1"/>
                </a:solidFill>
              </a:rPr>
              <a:t> for testing data</a:t>
            </a:r>
            <a:endParaRPr i="1" sz="5600">
              <a:solidFill>
                <a:schemeClr val="dk1"/>
              </a:solidFill>
            </a:endParaRPr>
          </a:p>
          <a:p>
            <a:pPr indent="-317500" lvl="2" marL="2286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romanLcParenR"/>
            </a:pPr>
            <a:r>
              <a:rPr b="1" i="1" lang="en" sz="5600">
                <a:solidFill>
                  <a:schemeClr val="dk1"/>
                </a:solidFill>
              </a:rPr>
              <a:t>finpredict:</a:t>
            </a:r>
            <a:r>
              <a:rPr i="1" lang="en" sz="5600">
                <a:solidFill>
                  <a:schemeClr val="dk1"/>
                </a:solidFill>
              </a:rPr>
              <a:t> for prediction results</a:t>
            </a:r>
            <a:endParaRPr i="1" sz="5600">
              <a:solidFill>
                <a:schemeClr val="dk1"/>
              </a:solidFill>
            </a:endParaRPr>
          </a:p>
          <a:p>
            <a:pPr indent="-317500" lvl="0" marL="8572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i="1" lang="en" sz="5600">
                <a:solidFill>
                  <a:schemeClr val="dk1"/>
                </a:solidFill>
              </a:rPr>
              <a:t>Combining Datasets:</a:t>
            </a:r>
            <a:endParaRPr b="1" i="1" sz="5600">
              <a:solidFill>
                <a:schemeClr val="dk1"/>
              </a:solidFill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8571"/>
              <a:buNone/>
            </a:pPr>
            <a:r>
              <a:rPr i="1" lang="en" sz="5600">
                <a:solidFill>
                  <a:schemeClr val="dk1"/>
                </a:solidFill>
              </a:rPr>
              <a:t> i) Merged training, testing, and prediction datasets using </a:t>
            </a:r>
            <a:r>
              <a:rPr i="1" lang="en" sz="5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pd.concat().</a:t>
            </a:r>
            <a:r>
              <a:rPr i="1" lang="en" sz="5600">
                <a:solidFill>
                  <a:schemeClr val="dk1"/>
                </a:solidFill>
              </a:rPr>
              <a:t> ii)</a:t>
            </a:r>
            <a:r>
              <a:rPr b="1" i="1" lang="en" sz="5600">
                <a:solidFill>
                  <a:schemeClr val="dk1"/>
                </a:solidFill>
              </a:rPr>
              <a:t>Combined Dataset Shape:</a:t>
            </a:r>
            <a:r>
              <a:rPr i="1" lang="en" sz="5600">
                <a:solidFill>
                  <a:schemeClr val="dk1"/>
                </a:solidFill>
              </a:rPr>
              <a:t> (10155 rows &amp; 33 columns).</a:t>
            </a:r>
            <a:endParaRPr i="1" sz="5600">
              <a:solidFill>
                <a:schemeClr val="dk1"/>
              </a:solidFill>
            </a:endParaRPr>
          </a:p>
          <a:p>
            <a:pPr indent="-400050" lvl="0" marL="5715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28571"/>
              <a:buNone/>
            </a:pPr>
            <a:r>
              <a:rPr b="1" i="1" lang="en" sz="5600">
                <a:solidFill>
                  <a:schemeClr val="dk1"/>
                </a:solidFill>
              </a:rPr>
              <a:t>3)</a:t>
            </a:r>
            <a:r>
              <a:rPr b="1" i="1" lang="en" sz="6000">
                <a:solidFill>
                  <a:schemeClr val="dk1"/>
                </a:solidFill>
              </a:rPr>
              <a:t>  Drop Columns:</a:t>
            </a:r>
            <a:r>
              <a:rPr b="1" i="1" lang="en" sz="5600">
                <a:solidFill>
                  <a:schemeClr val="dk1"/>
                </a:solidFill>
              </a:rPr>
              <a:t> </a:t>
            </a:r>
            <a:r>
              <a:rPr i="1" lang="en" sz="5600">
                <a:solidFill>
                  <a:schemeClr val="dk1"/>
                </a:solidFill>
              </a:rPr>
              <a:t>Unnecessary columns are removed first. Specifically, 'REF_NO', 'post_code', and 'post_area' are dropped from the dataset.</a:t>
            </a:r>
            <a:endParaRPr i="1" sz="5717">
              <a:solidFill>
                <a:schemeClr val="dk1"/>
              </a:solidFill>
            </a:endParaRPr>
          </a:p>
          <a:p>
            <a:pPr indent="-457200" lvl="0" marL="5715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25940"/>
              <a:buNone/>
            </a:pPr>
            <a:r>
              <a:rPr b="1" i="1" lang="en" sz="5717">
                <a:solidFill>
                  <a:schemeClr val="dk1"/>
                </a:solidFill>
              </a:rPr>
              <a:t>4)</a:t>
            </a:r>
            <a:r>
              <a:rPr i="1" lang="en" sz="5717">
                <a:solidFill>
                  <a:schemeClr val="dk1"/>
                </a:solidFill>
              </a:rPr>
              <a:t>   </a:t>
            </a:r>
            <a:r>
              <a:rPr b="1" i="1" lang="en" sz="6117">
                <a:solidFill>
                  <a:schemeClr val="dk1"/>
                </a:solidFill>
              </a:rPr>
              <a:t>Handling Unknowns:</a:t>
            </a:r>
            <a:r>
              <a:rPr b="1" i="1" lang="en" sz="6517">
                <a:solidFill>
                  <a:schemeClr val="dk1"/>
                </a:solidFill>
              </a:rPr>
              <a:t> </a:t>
            </a:r>
            <a:r>
              <a:rPr i="1" lang="en" sz="5600">
                <a:solidFill>
                  <a:schemeClr val="dk1"/>
                </a:solidFill>
              </a:rPr>
              <a:t>Converted unknown values to the mode of their respective columns to maintain consistency.</a:t>
            </a:r>
            <a:endParaRPr i="1" sz="5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28571"/>
              <a:buNone/>
            </a:pPr>
            <a:r>
              <a:t/>
            </a:r>
            <a:endParaRPr i="1" sz="5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5940"/>
              <a:buNone/>
            </a:pPr>
            <a:r>
              <a:t/>
            </a:r>
            <a:endParaRPr i="1" sz="571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8571"/>
              <a:buNone/>
            </a:pPr>
            <a:r>
              <a:t/>
            </a:r>
            <a:endParaRPr i="1" sz="5600"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0480"/>
              <a:buNone/>
            </a:pPr>
            <a:r>
              <a:t/>
            </a:r>
            <a:endParaRPr b="1" i="1" sz="651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5940"/>
              <a:buNone/>
            </a:pPr>
            <a:r>
              <a:t/>
            </a:r>
            <a:endParaRPr i="1" sz="571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49739"/>
              <a:buNone/>
            </a:pPr>
            <a:r>
              <a:t/>
            </a:r>
            <a:endParaRPr b="1" i="1" sz="288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4100" y="-12"/>
            <a:ext cx="2109899" cy="181377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0"/>
          <p:cNvSpPr txBox="1"/>
          <p:nvPr>
            <p:ph type="title"/>
          </p:nvPr>
        </p:nvSpPr>
        <p:spPr>
          <a:xfrm>
            <a:off x="223675" y="5867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227"/>
              <a:buFont typeface="Arial"/>
              <a:buNone/>
            </a:pPr>
            <a:r>
              <a:rPr b="1" i="1" lang="en" sz="3638">
                <a:latin typeface="Spectral"/>
                <a:ea typeface="Spectral"/>
                <a:cs typeface="Spectral"/>
                <a:sym typeface="Spectral"/>
              </a:rPr>
              <a:t>5. Outlier Detection and Treatment:</a:t>
            </a:r>
            <a:endParaRPr b="1" i="1" sz="3638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1116550" y="850800"/>
            <a:ext cx="8520600" cy="42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500">
                <a:solidFill>
                  <a:schemeClr val="dk1"/>
                </a:solidFill>
              </a:rPr>
              <a:t>Interquartile Range (IQR) and Capping:</a:t>
            </a:r>
            <a:endParaRPr b="1" i="1" sz="15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i="1" lang="en" sz="1400">
                <a:solidFill>
                  <a:schemeClr val="dk1"/>
                </a:solidFill>
              </a:rPr>
              <a:t>Interquartile Range (IQR):</a:t>
            </a:r>
            <a:br>
              <a:rPr b="1" i="1" lang="en" sz="1400">
                <a:solidFill>
                  <a:schemeClr val="dk1"/>
                </a:solidFill>
              </a:rPr>
            </a:br>
            <a:endParaRPr b="1" i="1"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i="1" lang="en">
                <a:solidFill>
                  <a:schemeClr val="dk1"/>
                </a:solidFill>
              </a:rPr>
              <a:t>Measures the spread of the middle 50% of the data.</a:t>
            </a:r>
            <a:endParaRPr i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i="1" lang="en">
                <a:solidFill>
                  <a:schemeClr val="dk1"/>
                </a:solidFill>
              </a:rPr>
              <a:t>Calculated as: </a:t>
            </a:r>
            <a:r>
              <a:rPr b="1" i="1" lang="en">
                <a:solidFill>
                  <a:schemeClr val="dk1"/>
                </a:solidFill>
              </a:rPr>
              <a:t>IQR = Q3 - Q1</a:t>
            </a:r>
            <a:r>
              <a:rPr i="1" lang="en">
                <a:solidFill>
                  <a:schemeClr val="dk1"/>
                </a:solidFill>
              </a:rPr>
              <a:t>.</a:t>
            </a:r>
            <a:endParaRPr i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i="1" lang="en">
                <a:solidFill>
                  <a:schemeClr val="dk1"/>
                </a:solidFill>
              </a:rPr>
              <a:t>Outliers are identified if they fall:</a:t>
            </a:r>
            <a:endParaRPr i="1"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b="1" i="1" lang="en">
                <a:solidFill>
                  <a:schemeClr val="dk1"/>
                </a:solidFill>
              </a:rPr>
              <a:t>Below:</a:t>
            </a:r>
            <a:r>
              <a:rPr i="1" lang="en">
                <a:solidFill>
                  <a:schemeClr val="dk1"/>
                </a:solidFill>
              </a:rPr>
              <a:t> Q1−1.5 × IQR</a:t>
            </a:r>
            <a:endParaRPr i="1"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b="1" i="1" lang="en">
                <a:solidFill>
                  <a:schemeClr val="dk1"/>
                </a:solidFill>
              </a:rPr>
              <a:t>Above:</a:t>
            </a:r>
            <a:r>
              <a:rPr i="1" lang="en">
                <a:solidFill>
                  <a:schemeClr val="dk1"/>
                </a:solidFill>
              </a:rPr>
              <a:t> Q3+1.5 × IQR</a:t>
            </a:r>
            <a:endParaRPr i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i="1" lang="en" sz="1400">
                <a:solidFill>
                  <a:schemeClr val="dk1"/>
                </a:solidFill>
              </a:rPr>
              <a:t>Capping:</a:t>
            </a:r>
            <a:endParaRPr b="1" i="1"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i="1" lang="en">
                <a:solidFill>
                  <a:schemeClr val="dk1"/>
                </a:solidFill>
              </a:rPr>
              <a:t>Extreme outliers are replaced with upper or lower threshold values.</a:t>
            </a:r>
            <a:endParaRPr i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i="1" lang="en">
                <a:solidFill>
                  <a:schemeClr val="dk1"/>
                </a:solidFill>
              </a:rPr>
              <a:t>Lower Capping:</a:t>
            </a:r>
            <a:r>
              <a:rPr i="1" lang="en">
                <a:solidFill>
                  <a:schemeClr val="dk1"/>
                </a:solidFill>
              </a:rPr>
              <a:t> Values below the lower bound are set to the lower limit.</a:t>
            </a:r>
            <a:endParaRPr i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i="1" lang="en">
                <a:solidFill>
                  <a:schemeClr val="dk1"/>
                </a:solidFill>
              </a:rPr>
              <a:t>Upper Capping:</a:t>
            </a:r>
            <a:r>
              <a:rPr i="1" lang="en">
                <a:solidFill>
                  <a:schemeClr val="dk1"/>
                </a:solidFill>
              </a:rPr>
              <a:t> Values above the upper bound are set to the upper limit.</a:t>
            </a:r>
            <a:endParaRPr i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i="1" lang="en">
                <a:solidFill>
                  <a:schemeClr val="dk1"/>
                </a:solidFill>
              </a:rPr>
              <a:t>Maintains data integrity while reducing the influence of outliers.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i="1" sz="1303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i="1" sz="1168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4100" y="0"/>
            <a:ext cx="2109899" cy="16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/>
          <p:nvPr>
            <p:ph type="title"/>
          </p:nvPr>
        </p:nvSpPr>
        <p:spPr>
          <a:xfrm>
            <a:off x="623400" y="498850"/>
            <a:ext cx="8520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517"/>
              <a:buNone/>
            </a:pPr>
            <a:r>
              <a:rPr b="1" i="1" lang="en" sz="3638">
                <a:latin typeface="Spectral"/>
                <a:ea typeface="Spectral"/>
                <a:cs typeface="Spectral"/>
                <a:sym typeface="Spectral"/>
              </a:rPr>
              <a:t>6.   Encoding:</a:t>
            </a:r>
            <a:endParaRPr b="1" i="1" sz="3638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11" name="Google Shape;111;p13"/>
          <p:cNvSpPr txBox="1"/>
          <p:nvPr>
            <p:ph idx="1" type="body"/>
          </p:nvPr>
        </p:nvSpPr>
        <p:spPr>
          <a:xfrm>
            <a:off x="213775" y="1354000"/>
            <a:ext cx="8520600" cy="3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13716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i="1" lang="en" sz="1500">
                <a:solidFill>
                  <a:schemeClr val="dk1"/>
                </a:solidFill>
              </a:rPr>
              <a:t>Ordinal Encoding: </a:t>
            </a:r>
            <a:r>
              <a:rPr i="1" lang="en" sz="1400">
                <a:solidFill>
                  <a:schemeClr val="dk1"/>
                </a:solidFill>
              </a:rPr>
              <a:t>Applied to 'age_band' and 'family_income'. To maintains the order of categorical, useful for features with a natural ranking.</a:t>
            </a:r>
            <a:endParaRPr i="1" sz="1400">
              <a:solidFill>
                <a:schemeClr val="dk1"/>
              </a:solidFill>
            </a:endParaRPr>
          </a:p>
          <a:p>
            <a:pPr indent="-3175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i="1" lang="en" sz="1500">
                <a:solidFill>
                  <a:schemeClr val="dk1"/>
                </a:solidFill>
              </a:rPr>
              <a:t>Binary Encoding:</a:t>
            </a:r>
            <a:r>
              <a:rPr i="1" lang="en" sz="1400">
                <a:solidFill>
                  <a:schemeClr val="dk1"/>
                </a:solidFill>
              </a:rPr>
              <a:t> Applied to 'gender' (Male = 1, Female = 2). To reduced dimensionality compared to one hot encoding, helping to minimize multicollinearity.</a:t>
            </a:r>
            <a:endParaRPr i="1" sz="1400">
              <a:solidFill>
                <a:schemeClr val="dk1"/>
              </a:solidFill>
            </a:endParaRPr>
          </a:p>
          <a:p>
            <a:pPr indent="-3175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i="1" lang="en" sz="1500">
                <a:solidFill>
                  <a:schemeClr val="dk1"/>
                </a:solidFill>
              </a:rPr>
              <a:t>One-Hot Encoding:</a:t>
            </a:r>
            <a:r>
              <a:rPr i="1" lang="en" sz="1500">
                <a:solidFill>
                  <a:schemeClr val="dk1"/>
                </a:solidFill>
              </a:rPr>
              <a:t> </a:t>
            </a:r>
            <a:r>
              <a:rPr i="1" lang="en" sz="1400">
                <a:solidFill>
                  <a:schemeClr val="dk1"/>
                </a:solidFill>
              </a:rPr>
              <a:t>Applied to categorical features: 'status', 'occupation', 'occupation_partner', 'home_status', 'self_employed', 'self_employed_partner', 'TVarea', 'region'.</a:t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4100" y="0"/>
            <a:ext cx="2109899" cy="137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>
            <p:ph type="title"/>
          </p:nvPr>
        </p:nvSpPr>
        <p:spPr>
          <a:xfrm>
            <a:off x="311700" y="367200"/>
            <a:ext cx="8520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1714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227"/>
              <a:buFont typeface="Arial"/>
              <a:buNone/>
            </a:pPr>
            <a:r>
              <a:rPr b="1" i="1" lang="en" sz="3638">
                <a:latin typeface="Spectral"/>
                <a:ea typeface="Spectral"/>
                <a:cs typeface="Spectral"/>
                <a:sym typeface="Spectral"/>
              </a:rPr>
              <a:t>7.   Feature Selection:</a:t>
            </a:r>
            <a:endParaRPr b="1" i="1" sz="3638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18" name="Google Shape;118;p14"/>
          <p:cNvSpPr txBox="1"/>
          <p:nvPr>
            <p:ph idx="1" type="body"/>
          </p:nvPr>
        </p:nvSpPr>
        <p:spPr>
          <a:xfrm>
            <a:off x="167700" y="665625"/>
            <a:ext cx="8976300" cy="43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114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i="1" sz="5600">
              <a:solidFill>
                <a:schemeClr val="dk1"/>
              </a:solidFill>
            </a:endParaRPr>
          </a:p>
          <a:p>
            <a:pPr indent="-3175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i="1" lang="en" sz="5600">
                <a:solidFill>
                  <a:schemeClr val="dk1"/>
                </a:solidFill>
              </a:rPr>
              <a:t>ANOVA F-test </a:t>
            </a:r>
            <a:r>
              <a:rPr i="1" lang="en" sz="5600">
                <a:solidFill>
                  <a:schemeClr val="dk1"/>
                </a:solidFill>
              </a:rPr>
              <a:t>identifies important numerical features by evaluating their variance with the target variable, helping improve model performance.</a:t>
            </a:r>
            <a:endParaRPr i="1" sz="5600">
              <a:solidFill>
                <a:schemeClr val="dk1"/>
              </a:solidFill>
            </a:endParaRPr>
          </a:p>
          <a:p>
            <a:pPr indent="-317500" lvl="0" marL="20002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i="1" lang="en" sz="5600">
                <a:solidFill>
                  <a:schemeClr val="dk1"/>
                </a:solidFill>
                <a:highlight>
                  <a:schemeClr val="lt1"/>
                </a:highlight>
              </a:rPr>
              <a:t>Top 10 features selected using ANOVA: </a:t>
            </a:r>
            <a:r>
              <a:rPr i="1" lang="en" sz="5600">
                <a:solidFill>
                  <a:srgbClr val="188038"/>
                </a:solidFill>
                <a:highlight>
                  <a:schemeClr val="lt1"/>
                </a:highlight>
              </a:rPr>
              <a:t>['Average.Credit.Card.Transaction', 'Life.Insurance', ‘Average.A.C.Balance', 'Investment.in.Mutual.Fund',       'Investment.Tax.Saving.Bond', 'Online.Purchase.Amount',     'Investment.in.Commudity', 'Investment.in.Equity', 'Investment.in.Derivative', 'Portfolio.Balance''].</a:t>
            </a:r>
            <a:endParaRPr i="1" sz="5600">
              <a:solidFill>
                <a:srgbClr val="188038"/>
              </a:solidFill>
              <a:highlight>
                <a:schemeClr val="lt1"/>
              </a:highlight>
            </a:endParaRPr>
          </a:p>
          <a:p>
            <a:pPr indent="-3175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i="1" lang="en" sz="5600">
                <a:solidFill>
                  <a:schemeClr val="dk1"/>
                </a:solidFill>
              </a:rPr>
              <a:t>Recursive Feature Elimination (RFE)</a:t>
            </a:r>
            <a:r>
              <a:rPr i="1" lang="en" sz="5600">
                <a:solidFill>
                  <a:schemeClr val="dk1"/>
                </a:solidFill>
              </a:rPr>
              <a:t> was applied using Logistic Regression to optimize the feature set.  Recursively removes least important features, optimizing model performance and reducing overfitting.</a:t>
            </a:r>
            <a:endParaRPr i="1" sz="5600">
              <a:solidFill>
                <a:schemeClr val="dk1"/>
              </a:solidFill>
            </a:endParaRPr>
          </a:p>
          <a:p>
            <a:pPr indent="-317500" lvl="0" marL="20002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i="1" lang="en" sz="5600">
                <a:solidFill>
                  <a:schemeClr val="dk1"/>
                </a:solidFill>
              </a:rPr>
              <a:t>Top 10 features selected using RFE:</a:t>
            </a:r>
            <a:r>
              <a:rPr i="1" lang="en" sz="5600">
                <a:solidFill>
                  <a:srgbClr val="188038"/>
                </a:solidFill>
                <a:highlight>
                  <a:schemeClr val="lt1"/>
                </a:highlight>
              </a:rPr>
              <a:t> ['status_Widowed', 'occupation_Housewife', 'occupation_Student', 'occupation_partner_Housewife',</a:t>
            </a:r>
            <a:endParaRPr i="1" sz="5600">
              <a:solidFill>
                <a:srgbClr val="188038"/>
              </a:solidFill>
              <a:highlight>
                <a:schemeClr val="lt1"/>
              </a:highlight>
            </a:endParaRPr>
          </a:p>
          <a:p>
            <a:pPr indent="0" lvl="0" marL="20002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28571"/>
              <a:buNone/>
            </a:pPr>
            <a:r>
              <a:rPr i="1" lang="en" sz="5600">
                <a:solidFill>
                  <a:srgbClr val="188038"/>
                </a:solidFill>
                <a:highlight>
                  <a:schemeClr val="lt1"/>
                </a:highlight>
              </a:rPr>
              <a:t>'occupation_partner_Student', ' home_status_Rent Privately', 'self_employed_Yes', 'TVarea_Grampian','region_Isle of Man', 'region_South West'].</a:t>
            </a:r>
            <a:endParaRPr i="1" sz="5600">
              <a:solidFill>
                <a:srgbClr val="188038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327272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>
            <p:ph idx="1" type="body"/>
          </p:nvPr>
        </p:nvSpPr>
        <p:spPr>
          <a:xfrm>
            <a:off x="311700" y="1914375"/>
            <a:ext cx="8520600" cy="21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n" sz="2255">
                <a:solidFill>
                  <a:schemeClr val="dk1"/>
                </a:solidFill>
              </a:rPr>
              <a:t>Building and Evaluating Machine Learning Models</a:t>
            </a:r>
            <a:br>
              <a:rPr b="1" lang="en" sz="1300">
                <a:solidFill>
                  <a:schemeClr val="dk1"/>
                </a:solidFill>
              </a:rPr>
            </a:br>
            <a:r>
              <a:rPr i="1" lang="en" sz="1522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i="1" lang="en" sz="162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"Building and optimizing the predictive model"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1" sz="3155">
              <a:solidFill>
                <a:schemeClr val="dk1"/>
              </a:solidFill>
            </a:endParaRPr>
          </a:p>
        </p:txBody>
      </p:sp>
      <p:pic>
        <p:nvPicPr>
          <p:cNvPr id="124" name="Google Shape;1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4100" y="0"/>
            <a:ext cx="2109899" cy="1813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0325" y="0"/>
            <a:ext cx="1813675" cy="12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>
            <p:ph type="title"/>
          </p:nvPr>
        </p:nvSpPr>
        <p:spPr>
          <a:xfrm>
            <a:off x="311700" y="188650"/>
            <a:ext cx="8520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517"/>
              <a:buNone/>
            </a:pPr>
            <a:r>
              <a:rPr b="1" i="1" lang="en" sz="3638">
                <a:latin typeface="Spectral"/>
                <a:ea typeface="Spectral"/>
                <a:cs typeface="Spectral"/>
                <a:sym typeface="Spectral"/>
              </a:rPr>
              <a:t>Models Evaluated:</a:t>
            </a:r>
            <a:endParaRPr b="1" i="1" sz="3638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31" name="Google Shape;131;p16"/>
          <p:cNvSpPr txBox="1"/>
          <p:nvPr>
            <p:ph idx="1" type="body"/>
          </p:nvPr>
        </p:nvSpPr>
        <p:spPr>
          <a:xfrm>
            <a:off x="683400" y="1046975"/>
            <a:ext cx="8312400" cy="4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i="1" lang="en" sz="1400">
                <a:solidFill>
                  <a:schemeClr val="dk1"/>
                </a:solidFill>
              </a:rPr>
              <a:t>Logistic Regression: </a:t>
            </a:r>
            <a:r>
              <a:rPr i="1" lang="en" sz="1300">
                <a:solidFill>
                  <a:schemeClr val="dk1"/>
                </a:solidFill>
              </a:rPr>
              <a:t>A baseline linear model that provides insight and is well-suited for binary classification.</a:t>
            </a:r>
            <a:endParaRPr i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i="1" lang="en" sz="1400">
                <a:solidFill>
                  <a:schemeClr val="dk1"/>
                </a:solidFill>
              </a:rPr>
              <a:t>Support Vector Machine (SVM):</a:t>
            </a:r>
            <a:r>
              <a:rPr i="1" lang="en" sz="1400">
                <a:solidFill>
                  <a:schemeClr val="dk1"/>
                </a:solidFill>
              </a:rPr>
              <a:t>  </a:t>
            </a:r>
            <a:r>
              <a:rPr i="1" lang="en" sz="1300">
                <a:solidFill>
                  <a:schemeClr val="dk1"/>
                </a:solidFill>
              </a:rPr>
              <a:t>Effective in handling complex decision boundaries.</a:t>
            </a:r>
            <a:endParaRPr i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i="1" lang="en" sz="1400">
                <a:solidFill>
                  <a:schemeClr val="dk1"/>
                </a:solidFill>
              </a:rPr>
              <a:t>K-Nearest Neighbors (KNN): </a:t>
            </a:r>
            <a:r>
              <a:rPr i="1" lang="en" sz="1300">
                <a:solidFill>
                  <a:schemeClr val="dk1"/>
                </a:solidFill>
              </a:rPr>
              <a:t> A distance-based classification method that works well with non-linear relationships.</a:t>
            </a:r>
            <a:endParaRPr i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i="1" lang="en" sz="1400">
                <a:solidFill>
                  <a:schemeClr val="dk1"/>
                </a:solidFill>
              </a:rPr>
              <a:t>Decision Tree:</a:t>
            </a:r>
            <a:r>
              <a:rPr i="1" lang="en" sz="1300">
                <a:solidFill>
                  <a:schemeClr val="dk1"/>
                </a:solidFill>
              </a:rPr>
              <a:t> A rule-based, transparent model that performs well with imbalanced data but is prone to overfitting.</a:t>
            </a:r>
            <a:endParaRPr i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i="1" lang="en" sz="1400">
                <a:solidFill>
                  <a:schemeClr val="dk1"/>
                </a:solidFill>
              </a:rPr>
              <a:t>Random Forest:</a:t>
            </a:r>
            <a:r>
              <a:rPr i="1" lang="en" sz="1400">
                <a:solidFill>
                  <a:schemeClr val="dk1"/>
                </a:solidFill>
              </a:rPr>
              <a:t> </a:t>
            </a:r>
            <a:r>
              <a:rPr i="1" lang="en" sz="1300">
                <a:solidFill>
                  <a:schemeClr val="dk1"/>
                </a:solidFill>
              </a:rPr>
              <a:t>An ensemble learning approach that combines multiple decision trees for improved accuracy and robustness.</a:t>
            </a:r>
            <a:endParaRPr i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i="1" lang="en" sz="1500">
                <a:solidFill>
                  <a:schemeClr val="dk1"/>
                </a:solidFill>
              </a:rPr>
              <a:t>Feature Selection Approach:</a:t>
            </a:r>
            <a:endParaRPr b="1" i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i="1" lang="en" sz="1400">
                <a:solidFill>
                  <a:schemeClr val="dk1"/>
                </a:solidFill>
              </a:rPr>
              <a:t>Comparison:</a:t>
            </a:r>
            <a:r>
              <a:rPr i="1" lang="en" sz="1400">
                <a:solidFill>
                  <a:schemeClr val="dk1"/>
                </a:solidFill>
              </a:rPr>
              <a:t> </a:t>
            </a:r>
            <a:r>
              <a:rPr i="1" lang="en" sz="1300">
                <a:solidFill>
                  <a:schemeClr val="dk1"/>
                </a:solidFill>
              </a:rPr>
              <a:t>All Features vs. RFE + ANOVA</a:t>
            </a:r>
            <a:endParaRPr i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i="1" lang="en" sz="1400">
                <a:solidFill>
                  <a:schemeClr val="dk1"/>
                </a:solidFill>
              </a:rPr>
              <a:t>Objective:</a:t>
            </a:r>
            <a:r>
              <a:rPr i="1" lang="en" sz="1400">
                <a:solidFill>
                  <a:schemeClr val="dk1"/>
                </a:solidFill>
              </a:rPr>
              <a:t> </a:t>
            </a:r>
            <a:endParaRPr i="1" sz="1400">
              <a:solidFill>
                <a:schemeClr val="dk1"/>
              </a:solidFill>
            </a:endParaRPr>
          </a:p>
          <a:p>
            <a:pPr indent="-311150" lvl="0" marL="9715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➔"/>
            </a:pPr>
            <a:r>
              <a:rPr i="1" lang="en" sz="1300">
                <a:solidFill>
                  <a:schemeClr val="dk1"/>
                </a:solidFill>
              </a:rPr>
              <a:t>Identify the most relevant features to optimize model performance while reducing dimensionality.</a:t>
            </a:r>
            <a:endParaRPr i="1" sz="1300">
              <a:solidFill>
                <a:schemeClr val="dk1"/>
              </a:solidFill>
            </a:endParaRPr>
          </a:p>
          <a:p>
            <a:pPr indent="-311150" lvl="0" marL="9715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➔"/>
            </a:pPr>
            <a:r>
              <a:rPr i="1" lang="en" sz="1300">
                <a:solidFill>
                  <a:schemeClr val="dk1"/>
                </a:solidFill>
              </a:rPr>
              <a:t>Enhance computational efficiency and reduces the risk of overfitting.</a:t>
            </a:r>
            <a:endParaRPr i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4100" y="0"/>
            <a:ext cx="2109899" cy="181377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>
            <p:ph idx="1" type="body"/>
          </p:nvPr>
        </p:nvSpPr>
        <p:spPr>
          <a:xfrm>
            <a:off x="387125" y="630975"/>
            <a:ext cx="8520600" cy="41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n" sz="3155">
                <a:solidFill>
                  <a:schemeClr val="dk1"/>
                </a:solidFill>
              </a:rPr>
              <a:t>Model Performance Evaluation</a:t>
            </a:r>
            <a:endParaRPr b="1" i="1" sz="43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22">
                <a:solidFill>
                  <a:schemeClr val="dk1"/>
                </a:solidFill>
              </a:rPr>
              <a:t> </a:t>
            </a:r>
            <a:r>
              <a:rPr i="1" lang="en" sz="1222">
                <a:solidFill>
                  <a:schemeClr val="dk1"/>
                </a:solidFill>
              </a:rPr>
              <a:t>“</a:t>
            </a:r>
            <a:r>
              <a:rPr i="1" lang="en" sz="1222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Comparison of Different Models on Minority and Majority Classes”</a:t>
            </a:r>
            <a:endParaRPr b="1" i="1" sz="11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 i="1" sz="2400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3225" y="0"/>
            <a:ext cx="1940775" cy="16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>
            <p:ph type="title"/>
          </p:nvPr>
        </p:nvSpPr>
        <p:spPr>
          <a:xfrm>
            <a:off x="311700" y="231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8447"/>
              <a:buFont typeface="Arial"/>
              <a:buNone/>
            </a:pPr>
            <a:r>
              <a:rPr b="1" i="1" lang="en" sz="2861">
                <a:latin typeface="Spectral"/>
                <a:ea typeface="Spectral"/>
                <a:cs typeface="Spectral"/>
                <a:sym typeface="Spectral"/>
              </a:rPr>
              <a:t>Performance Comparison for Minority Class (Class 1)</a:t>
            </a:r>
            <a:endParaRPr b="1" i="1" sz="2861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5517"/>
              <a:buNone/>
            </a:pPr>
            <a:r>
              <a:t/>
            </a:r>
            <a:endParaRPr i="1" sz="3638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44" name="Google Shape;144;p18"/>
          <p:cNvSpPr txBox="1"/>
          <p:nvPr>
            <p:ph idx="1" type="body"/>
          </p:nvPr>
        </p:nvSpPr>
        <p:spPr>
          <a:xfrm>
            <a:off x="990900" y="863550"/>
            <a:ext cx="8153100" cy="3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" sz="1500">
                <a:solidFill>
                  <a:schemeClr val="dk1"/>
                </a:solidFill>
              </a:rPr>
              <a:t>Model Performance on Minority Class</a:t>
            </a:r>
            <a:endParaRPr i="1" sz="13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i="1" lang="en" sz="1500">
                <a:solidFill>
                  <a:schemeClr val="dk1"/>
                </a:solidFill>
              </a:rPr>
              <a:t>Content:</a:t>
            </a:r>
            <a:endParaRPr b="1" i="1" sz="1500">
              <a:solidFill>
                <a:schemeClr val="dk1"/>
              </a:solidFill>
            </a:endParaRPr>
          </a:p>
          <a:p>
            <a:pPr indent="-311150" lvl="0" marL="1257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➔"/>
            </a:pPr>
            <a:r>
              <a:rPr i="1" lang="en" sz="1300">
                <a:solidFill>
                  <a:schemeClr val="dk1"/>
                </a:solidFill>
              </a:rPr>
              <a:t>Model Accuracy Comparison</a:t>
            </a:r>
            <a:endParaRPr i="1" sz="1300">
              <a:solidFill>
                <a:schemeClr val="dk1"/>
              </a:solidFill>
            </a:endParaRPr>
          </a:p>
          <a:p>
            <a:pPr indent="-311150" lvl="0" marL="1257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➔"/>
            </a:pPr>
            <a:r>
              <a:rPr i="1" lang="en" sz="1300">
                <a:solidFill>
                  <a:schemeClr val="dk1"/>
                </a:solidFill>
              </a:rPr>
              <a:t>Recall for </a:t>
            </a:r>
            <a:r>
              <a:rPr b="1" i="1" lang="en" sz="1300">
                <a:solidFill>
                  <a:srgbClr val="188038"/>
                </a:solidFill>
              </a:rPr>
              <a:t>Class 1</a:t>
            </a:r>
            <a:r>
              <a:rPr i="1" lang="en" sz="1300">
                <a:solidFill>
                  <a:srgbClr val="188038"/>
                </a:solidFill>
              </a:rPr>
              <a:t> </a:t>
            </a:r>
            <a:r>
              <a:rPr i="1" lang="en" sz="1300">
                <a:solidFill>
                  <a:schemeClr val="dk1"/>
                </a:solidFill>
              </a:rPr>
              <a:t>(Minority Class)</a:t>
            </a:r>
            <a:endParaRPr i="1" sz="1300">
              <a:solidFill>
                <a:schemeClr val="dk1"/>
              </a:solidFill>
            </a:endParaRPr>
          </a:p>
          <a:p>
            <a:pPr indent="-311150" lvl="0" marL="1257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➔"/>
            </a:pPr>
            <a:r>
              <a:rPr i="1" lang="en" sz="1300">
                <a:solidFill>
                  <a:schemeClr val="dk1"/>
                </a:solidFill>
              </a:rPr>
              <a:t>F1-score for</a:t>
            </a:r>
            <a:r>
              <a:rPr i="1" lang="en" sz="1300">
                <a:solidFill>
                  <a:srgbClr val="188038"/>
                </a:solidFill>
              </a:rPr>
              <a:t> </a:t>
            </a:r>
            <a:r>
              <a:rPr b="1" i="1" lang="en" sz="1300">
                <a:solidFill>
                  <a:srgbClr val="188038"/>
                </a:solidFill>
              </a:rPr>
              <a:t>Class 1</a:t>
            </a:r>
            <a:r>
              <a:rPr b="1" i="1" lang="en" sz="1300">
                <a:solidFill>
                  <a:schemeClr val="dk1"/>
                </a:solidFill>
              </a:rPr>
              <a:t> </a:t>
            </a:r>
            <a:r>
              <a:rPr i="1" lang="en" sz="1300">
                <a:solidFill>
                  <a:schemeClr val="dk1"/>
                </a:solidFill>
              </a:rPr>
              <a:t>(Minority Class)</a:t>
            </a:r>
            <a:endParaRPr i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45" name="Google Shape;1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225" y="2158850"/>
            <a:ext cx="8979125" cy="28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3225" y="0"/>
            <a:ext cx="1940775" cy="16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>
            <p:ph type="title"/>
          </p:nvPr>
        </p:nvSpPr>
        <p:spPr>
          <a:xfrm>
            <a:off x="311700" y="243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8447"/>
              <a:buFont typeface="Arial"/>
              <a:buNone/>
            </a:pPr>
            <a:r>
              <a:rPr b="1" i="1" lang="en" sz="2861">
                <a:latin typeface="Spectral"/>
                <a:ea typeface="Spectral"/>
                <a:cs typeface="Spectral"/>
                <a:sym typeface="Spectral"/>
              </a:rPr>
              <a:t>Performance Comparison for Majority Class (Class 2)</a:t>
            </a:r>
            <a:endParaRPr b="1" i="1" sz="2861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13172"/>
              <a:buNone/>
            </a:pPr>
            <a:r>
              <a:t/>
            </a:r>
            <a:endParaRPr b="1" i="1" sz="2749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52" name="Google Shape;152;p19"/>
          <p:cNvSpPr txBox="1"/>
          <p:nvPr>
            <p:ph idx="1" type="body"/>
          </p:nvPr>
        </p:nvSpPr>
        <p:spPr>
          <a:xfrm>
            <a:off x="937800" y="863550"/>
            <a:ext cx="8206200" cy="24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" sz="1500">
                <a:solidFill>
                  <a:schemeClr val="dk1"/>
                </a:solidFill>
              </a:rPr>
              <a:t>Model Performance on Majority Class</a:t>
            </a:r>
            <a:endParaRPr i="1" sz="13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i="1" lang="en" sz="1500">
                <a:solidFill>
                  <a:schemeClr val="dk1"/>
                </a:solidFill>
              </a:rPr>
              <a:t>Content:</a:t>
            </a:r>
            <a:endParaRPr b="1" i="1" sz="1500">
              <a:solidFill>
                <a:schemeClr val="dk1"/>
              </a:solidFill>
            </a:endParaRPr>
          </a:p>
          <a:p>
            <a:pPr indent="-311150" lvl="0" marL="1257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➔"/>
            </a:pPr>
            <a:r>
              <a:rPr i="1" lang="en" sz="1300">
                <a:solidFill>
                  <a:schemeClr val="dk1"/>
                </a:solidFill>
              </a:rPr>
              <a:t>Model Accuracy Comparison</a:t>
            </a:r>
            <a:endParaRPr i="1" sz="1300">
              <a:solidFill>
                <a:schemeClr val="dk1"/>
              </a:solidFill>
            </a:endParaRPr>
          </a:p>
          <a:p>
            <a:pPr indent="-311150" lvl="0" marL="1257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➔"/>
            </a:pPr>
            <a:r>
              <a:rPr i="1" lang="en" sz="1300">
                <a:solidFill>
                  <a:schemeClr val="dk1"/>
                </a:solidFill>
              </a:rPr>
              <a:t>Recall for </a:t>
            </a:r>
            <a:r>
              <a:rPr b="1" i="1" lang="en" sz="1300">
                <a:solidFill>
                  <a:srgbClr val="188038"/>
                </a:solidFill>
              </a:rPr>
              <a:t>Class 2</a:t>
            </a:r>
            <a:r>
              <a:rPr i="1" lang="en" sz="1300">
                <a:solidFill>
                  <a:schemeClr val="dk1"/>
                </a:solidFill>
              </a:rPr>
              <a:t> (Majority Class)</a:t>
            </a:r>
            <a:endParaRPr i="1" sz="1300">
              <a:solidFill>
                <a:schemeClr val="dk1"/>
              </a:solidFill>
            </a:endParaRPr>
          </a:p>
          <a:p>
            <a:pPr indent="-311150" lvl="0" marL="1257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➔"/>
            </a:pPr>
            <a:r>
              <a:rPr i="1" lang="en" sz="1300">
                <a:solidFill>
                  <a:schemeClr val="dk1"/>
                </a:solidFill>
              </a:rPr>
              <a:t>F1-score for </a:t>
            </a:r>
            <a:r>
              <a:rPr b="1" i="1" lang="en" sz="1300">
                <a:solidFill>
                  <a:srgbClr val="188038"/>
                </a:solidFill>
              </a:rPr>
              <a:t>Class 2 </a:t>
            </a:r>
            <a:r>
              <a:rPr i="1" lang="en" sz="1300">
                <a:solidFill>
                  <a:schemeClr val="dk1"/>
                </a:solidFill>
              </a:rPr>
              <a:t>(Majority Class)</a:t>
            </a:r>
            <a:endParaRPr i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i="1" sz="1200">
              <a:solidFill>
                <a:schemeClr val="dk1"/>
              </a:solidFill>
            </a:endParaRPr>
          </a:p>
        </p:txBody>
      </p:sp>
      <p:pic>
        <p:nvPicPr>
          <p:cNvPr id="153" name="Google Shape;15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950" y="2133700"/>
            <a:ext cx="8916251" cy="290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875" y="0"/>
            <a:ext cx="1808126" cy="13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>
            <p:ph type="title"/>
          </p:nvPr>
        </p:nvSpPr>
        <p:spPr>
          <a:xfrm>
            <a:off x="311700" y="159300"/>
            <a:ext cx="85206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" sz="3174">
                <a:latin typeface="Spectral"/>
                <a:ea typeface="Spectral"/>
                <a:cs typeface="Spectral"/>
                <a:sym typeface="Spectral"/>
              </a:rPr>
              <a:t>Model Performance Summary</a:t>
            </a:r>
            <a:endParaRPr sz="2420"/>
          </a:p>
        </p:txBody>
      </p:sp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708425" y="813300"/>
            <a:ext cx="8363100" cy="42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000">
                <a:solidFill>
                  <a:schemeClr val="dk1"/>
                </a:solidFill>
              </a:rPr>
              <a:t>1.</a:t>
            </a:r>
            <a:r>
              <a:rPr b="1" i="1" lang="en" sz="6000">
                <a:solidFill>
                  <a:schemeClr val="dk1"/>
                </a:solidFill>
              </a:rPr>
              <a:t> Accuracy Comparison</a:t>
            </a:r>
            <a:endParaRPr b="1" i="1" sz="6000">
              <a:solidFill>
                <a:schemeClr val="dk1"/>
              </a:solidFill>
            </a:endParaRPr>
          </a:p>
          <a:p>
            <a:pPr indent="-311150" lvl="0" marL="6286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i="1" lang="en" sz="5200">
                <a:solidFill>
                  <a:schemeClr val="dk1"/>
                </a:solidFill>
              </a:rPr>
              <a:t>Accuracy is consistently high across all models, with </a:t>
            </a:r>
            <a:r>
              <a:rPr b="1" i="1" lang="en" sz="5200">
                <a:solidFill>
                  <a:schemeClr val="dk1"/>
                </a:solidFill>
              </a:rPr>
              <a:t>Decision Tree and Random Forest</a:t>
            </a:r>
            <a:r>
              <a:rPr i="1" lang="en" sz="5200">
                <a:solidFill>
                  <a:schemeClr val="dk1"/>
                </a:solidFill>
              </a:rPr>
              <a:t> achieving the highest (~98%).</a:t>
            </a:r>
            <a:endParaRPr i="1" sz="5200">
              <a:solidFill>
                <a:schemeClr val="dk1"/>
              </a:solidFill>
            </a:endParaRPr>
          </a:p>
          <a:p>
            <a:pPr indent="-311150" lvl="0" marL="6286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i="1" lang="en" sz="5200">
                <a:solidFill>
                  <a:schemeClr val="dk1"/>
                </a:solidFill>
              </a:rPr>
              <a:t>KNN benefits the most</a:t>
            </a:r>
            <a:r>
              <a:rPr i="1" lang="en" sz="5200">
                <a:solidFill>
                  <a:schemeClr val="dk1"/>
                </a:solidFill>
              </a:rPr>
              <a:t> from feature selection, showing an increase in accuracy.</a:t>
            </a:r>
            <a:endParaRPr i="1" sz="5200">
              <a:solidFill>
                <a:schemeClr val="dk1"/>
              </a:solidFill>
            </a:endParaRPr>
          </a:p>
          <a:p>
            <a:pPr indent="-311150" lvl="0" marL="6286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i="1" lang="en" sz="5200">
                <a:solidFill>
                  <a:schemeClr val="dk1"/>
                </a:solidFill>
              </a:rPr>
              <a:t>Logistic Regression sees a slight drop</a:t>
            </a:r>
            <a:r>
              <a:rPr i="1" lang="en" sz="5200">
                <a:solidFill>
                  <a:schemeClr val="dk1"/>
                </a:solidFill>
              </a:rPr>
              <a:t> in accuracy after feature selection.</a:t>
            </a:r>
            <a:endParaRPr i="1" sz="5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i="1" lang="en" sz="6000">
                <a:solidFill>
                  <a:schemeClr val="dk1"/>
                </a:solidFill>
              </a:rPr>
              <a:t>2. Recall for Minority Class (Class 1)</a:t>
            </a:r>
            <a:endParaRPr b="1" i="1" sz="6000">
              <a:solidFill>
                <a:schemeClr val="dk1"/>
              </a:solidFill>
            </a:endParaRPr>
          </a:p>
          <a:p>
            <a:pPr indent="-311150" lvl="0" marL="6286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i="1" lang="en" sz="5200">
                <a:solidFill>
                  <a:schemeClr val="dk1"/>
                </a:solidFill>
              </a:rPr>
              <a:t>Decision Tree and Random Forest (with all features) maintain strong recall (~87-90%)</a:t>
            </a:r>
            <a:r>
              <a:rPr i="1" lang="en" sz="5200">
                <a:solidFill>
                  <a:schemeClr val="dk1"/>
                </a:solidFill>
              </a:rPr>
              <a:t>, ensuring good identification of minority class cases.</a:t>
            </a:r>
            <a:endParaRPr i="1" sz="5200">
              <a:solidFill>
                <a:schemeClr val="dk1"/>
              </a:solidFill>
            </a:endParaRPr>
          </a:p>
          <a:p>
            <a:pPr indent="-311150" lvl="0" marL="6286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i="1" lang="en" sz="5200">
                <a:solidFill>
                  <a:schemeClr val="dk1"/>
                </a:solidFill>
              </a:rPr>
              <a:t>KNN and SVM sees a improvement in recall</a:t>
            </a:r>
            <a:r>
              <a:rPr i="1" lang="en" sz="5200">
                <a:solidFill>
                  <a:schemeClr val="dk1"/>
                </a:solidFill>
              </a:rPr>
              <a:t> after feature selection.</a:t>
            </a:r>
            <a:endParaRPr i="1" sz="5200">
              <a:solidFill>
                <a:schemeClr val="dk1"/>
              </a:solidFill>
            </a:endParaRPr>
          </a:p>
          <a:p>
            <a:pPr indent="-311150" lvl="0" marL="6286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i="1" lang="en" sz="5200">
                <a:solidFill>
                  <a:schemeClr val="dk1"/>
                </a:solidFill>
              </a:rPr>
              <a:t>Logistic Regression shows a significant decline</a:t>
            </a:r>
            <a:r>
              <a:rPr i="1" lang="en" sz="5200">
                <a:solidFill>
                  <a:schemeClr val="dk1"/>
                </a:solidFill>
              </a:rPr>
              <a:t>, indicating challenges in capturing minority class instances.</a:t>
            </a:r>
            <a:endParaRPr i="1" sz="5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ct val="120000"/>
              <a:buNone/>
            </a:pPr>
            <a:r>
              <a:rPr b="1" i="1" lang="en" sz="6000">
                <a:solidFill>
                  <a:schemeClr val="dk1"/>
                </a:solidFill>
              </a:rPr>
              <a:t>3. F1-score for Minority Class (Class 1)</a:t>
            </a:r>
            <a:endParaRPr b="1" i="1" sz="6000">
              <a:solidFill>
                <a:schemeClr val="dk1"/>
              </a:solidFill>
            </a:endParaRPr>
          </a:p>
          <a:p>
            <a:pPr indent="-311150" lvl="0" marL="6286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i="1" lang="en" sz="5200">
                <a:solidFill>
                  <a:schemeClr val="dk1"/>
                </a:solidFill>
              </a:rPr>
              <a:t>Decision Tree and Random Forest (all features) achieve the best F1-scores</a:t>
            </a:r>
            <a:r>
              <a:rPr i="1" lang="en" sz="5200">
                <a:solidFill>
                  <a:schemeClr val="dk1"/>
                </a:solidFill>
              </a:rPr>
              <a:t>, demonstrating balanced precision and recall.</a:t>
            </a:r>
            <a:endParaRPr i="1" sz="5200">
              <a:solidFill>
                <a:schemeClr val="dk1"/>
              </a:solidFill>
            </a:endParaRPr>
          </a:p>
          <a:p>
            <a:pPr indent="-311150" lvl="0" marL="6286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i="1" lang="en" sz="5200">
                <a:solidFill>
                  <a:schemeClr val="dk1"/>
                </a:solidFill>
              </a:rPr>
              <a:t>KNN and SVM benefit from feature selection</a:t>
            </a:r>
            <a:r>
              <a:rPr i="1" lang="en" sz="5200">
                <a:solidFill>
                  <a:schemeClr val="dk1"/>
                </a:solidFill>
              </a:rPr>
              <a:t>, slightly improving its F1-score.</a:t>
            </a:r>
            <a:endParaRPr i="1" sz="5200">
              <a:solidFill>
                <a:schemeClr val="dk1"/>
              </a:solidFill>
            </a:endParaRPr>
          </a:p>
          <a:p>
            <a:pPr indent="-311150" lvl="0" marL="6286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i="1" lang="en" sz="5200">
                <a:solidFill>
                  <a:schemeClr val="dk1"/>
                </a:solidFill>
              </a:rPr>
              <a:t>Logistic Regression  show reduced F1-scores</a:t>
            </a:r>
            <a:r>
              <a:rPr i="1" lang="en" sz="5200">
                <a:solidFill>
                  <a:schemeClr val="dk1"/>
                </a:solidFill>
              </a:rPr>
              <a:t> after feature selection, reflecting a trade-off in classification performance.</a:t>
            </a:r>
            <a:endParaRPr i="1" sz="5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4100" y="0"/>
            <a:ext cx="2109899" cy="181377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1"/>
          <p:cNvSpPr txBox="1"/>
          <p:nvPr>
            <p:ph idx="1" type="body"/>
          </p:nvPr>
        </p:nvSpPr>
        <p:spPr>
          <a:xfrm>
            <a:off x="487750" y="385800"/>
            <a:ext cx="8520600" cy="46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500">
                <a:solidFill>
                  <a:schemeClr val="dk1"/>
                </a:solidFill>
              </a:rPr>
              <a:t>4. Recall for Majority Class (Class 2)</a:t>
            </a:r>
            <a:endParaRPr b="1" i="1" sz="15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i="1" lang="en" sz="1400">
                <a:solidFill>
                  <a:schemeClr val="dk1"/>
                </a:solidFill>
              </a:rPr>
              <a:t>All models perform consistently (~98-100%)</a:t>
            </a:r>
            <a:r>
              <a:rPr i="1" lang="en" sz="1400">
                <a:solidFill>
                  <a:schemeClr val="dk1"/>
                </a:solidFill>
              </a:rPr>
              <a:t>, effectively identifying the majority class.</a:t>
            </a:r>
            <a:endParaRPr i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en" sz="1400">
                <a:solidFill>
                  <a:schemeClr val="dk1"/>
                </a:solidFill>
              </a:rPr>
              <a:t>No significant changes between </a:t>
            </a:r>
            <a:r>
              <a:rPr b="1" i="1" lang="en" sz="1400">
                <a:solidFill>
                  <a:schemeClr val="dk1"/>
                </a:solidFill>
              </a:rPr>
              <a:t>all features vs. selected features</a:t>
            </a:r>
            <a:r>
              <a:rPr i="1" lang="en" sz="1400">
                <a:solidFill>
                  <a:schemeClr val="dk1"/>
                </a:solidFill>
              </a:rPr>
              <a:t>.</a:t>
            </a:r>
            <a:endParaRPr i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rPr b="1" i="1" lang="en" sz="1500">
                <a:solidFill>
                  <a:schemeClr val="dk1"/>
                </a:solidFill>
              </a:rPr>
              <a:t>5. F1-score for Majority Class (Class 2)</a:t>
            </a:r>
            <a:endParaRPr b="1" i="1" sz="15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i="1" lang="en" sz="1400">
                <a:solidFill>
                  <a:schemeClr val="dk1"/>
                </a:solidFill>
              </a:rPr>
              <a:t>Nearly perfect scores (~98-100%) across all models</a:t>
            </a:r>
            <a:r>
              <a:rPr i="1" lang="en" sz="1400">
                <a:solidFill>
                  <a:schemeClr val="dk1"/>
                </a:solidFill>
              </a:rPr>
              <a:t>, showing that the models handle the majority class well.</a:t>
            </a:r>
            <a:endParaRPr i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en" sz="1400">
                <a:solidFill>
                  <a:schemeClr val="dk1"/>
                </a:solidFill>
              </a:rPr>
              <a:t>No substantial difference observed between feature selection techniques.</a:t>
            </a:r>
            <a:endParaRPr i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rPr b="1" i="1" lang="en" sz="1700">
                <a:solidFill>
                  <a:schemeClr val="dk1"/>
                </a:solidFill>
              </a:rPr>
              <a:t>Key Takeaways:</a:t>
            </a:r>
            <a:endParaRPr b="1" i="1" sz="17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i="1" lang="en" sz="1400">
                <a:solidFill>
                  <a:schemeClr val="dk1"/>
                </a:solidFill>
              </a:rPr>
              <a:t>Decision Tree &amp; Random Forest outperform</a:t>
            </a:r>
            <a:r>
              <a:rPr i="1" lang="en" sz="1400">
                <a:solidFill>
                  <a:schemeClr val="dk1"/>
                </a:solidFill>
              </a:rPr>
              <a:t> other models across all metrics.</a:t>
            </a:r>
            <a:endParaRPr i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i="1" lang="en" sz="1400">
                <a:solidFill>
                  <a:schemeClr val="dk1"/>
                </a:solidFill>
              </a:rPr>
              <a:t>KNN and SVM benefits the most</a:t>
            </a:r>
            <a:r>
              <a:rPr i="1" lang="en" sz="1400">
                <a:solidFill>
                  <a:schemeClr val="dk1"/>
                </a:solidFill>
              </a:rPr>
              <a:t> from feature selection, improving its accuracy and F1-score.</a:t>
            </a:r>
            <a:endParaRPr i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i="1" lang="en" sz="1400">
                <a:solidFill>
                  <a:schemeClr val="dk1"/>
                </a:solidFill>
              </a:rPr>
              <a:t>Feature selection (RFE + ANOVA) helps reduce complexity</a:t>
            </a:r>
            <a:r>
              <a:rPr i="1" lang="en" sz="1400">
                <a:solidFill>
                  <a:schemeClr val="dk1"/>
                </a:solidFill>
              </a:rPr>
              <a:t> while maintaining strong model performance.</a:t>
            </a:r>
            <a:endParaRPr i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i="1" lang="en" sz="1400">
                <a:solidFill>
                  <a:schemeClr val="dk1"/>
                </a:solidFill>
              </a:rPr>
              <a:t>Logistic Regression struggle</a:t>
            </a:r>
            <a:r>
              <a:rPr i="1" lang="en" sz="1400">
                <a:solidFill>
                  <a:schemeClr val="dk1"/>
                </a:solidFill>
              </a:rPr>
              <a:t> to capture the minority class after feature selection, leading to lower recall and F1-scores.</a:t>
            </a:r>
            <a:endParaRPr i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4100" y="0"/>
            <a:ext cx="2109899" cy="181377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2"/>
          <p:cNvSpPr txBox="1"/>
          <p:nvPr>
            <p:ph idx="1" type="body"/>
          </p:nvPr>
        </p:nvSpPr>
        <p:spPr>
          <a:xfrm>
            <a:off x="374575" y="1813775"/>
            <a:ext cx="8520600" cy="22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n" sz="3255">
                <a:solidFill>
                  <a:schemeClr val="dk1"/>
                </a:solidFill>
              </a:rPr>
              <a:t>Best Model For This Dataset</a:t>
            </a:r>
            <a:br>
              <a:rPr b="1" lang="en" sz="1200">
                <a:solidFill>
                  <a:schemeClr val="dk1"/>
                </a:solidFill>
              </a:rPr>
            </a:br>
            <a:r>
              <a:rPr i="1" lang="en" sz="1222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i="1" lang="en" sz="1122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"Random Forest emerged as the top-performing model"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i="1" sz="1322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5100" y="0"/>
            <a:ext cx="1898900" cy="163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 txBox="1"/>
          <p:nvPr>
            <p:ph type="title"/>
          </p:nvPr>
        </p:nvSpPr>
        <p:spPr>
          <a:xfrm>
            <a:off x="311700" y="134150"/>
            <a:ext cx="8520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en" sz="3074">
                <a:latin typeface="Spectral"/>
                <a:ea typeface="Spectral"/>
                <a:cs typeface="Spectral"/>
                <a:sym typeface="Spectral"/>
              </a:rPr>
              <a:t>Random Forest: Best Performing Model</a:t>
            </a:r>
            <a:endParaRPr b="1" i="1" sz="3074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915300" y="804050"/>
            <a:ext cx="7476900" cy="4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" sz="1300">
                <a:solidFill>
                  <a:schemeClr val="dk1"/>
                </a:solidFill>
              </a:rPr>
              <a:t>The </a:t>
            </a:r>
            <a:r>
              <a:rPr b="1" i="1" lang="en" sz="1300">
                <a:solidFill>
                  <a:schemeClr val="dk1"/>
                </a:solidFill>
              </a:rPr>
              <a:t>Random Forest </a:t>
            </a:r>
            <a:r>
              <a:rPr i="1" lang="en" sz="1300">
                <a:solidFill>
                  <a:schemeClr val="dk1"/>
                </a:solidFill>
              </a:rPr>
              <a:t>model performed exceptionally well with high accuracy, strong recall, and a balanced F1-score, ensuring reliable results.</a:t>
            </a:r>
            <a:endParaRPr i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i="1" lang="en" sz="1300">
                <a:solidFill>
                  <a:schemeClr val="dk1"/>
                </a:solidFill>
              </a:rPr>
              <a:t>Highest Accuracy:</a:t>
            </a:r>
            <a:r>
              <a:rPr i="1" lang="en" sz="1300">
                <a:solidFill>
                  <a:schemeClr val="dk1"/>
                </a:solidFill>
              </a:rPr>
              <a:t> 98% overall performance.</a:t>
            </a:r>
            <a:endParaRPr i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i="1" lang="en" sz="1300">
                <a:solidFill>
                  <a:schemeClr val="dk1"/>
                </a:solidFill>
              </a:rPr>
              <a:t>Strong Recall for Both Classes:</a:t>
            </a:r>
            <a:endParaRPr b="1" i="1" sz="1300">
              <a:solidFill>
                <a:schemeClr val="dk1"/>
              </a:solidFill>
            </a:endParaRPr>
          </a:p>
          <a:p>
            <a:pPr indent="-311150" lvl="0" marL="10858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➔"/>
            </a:pPr>
            <a:r>
              <a:rPr b="1" i="1" lang="en" sz="1300">
                <a:solidFill>
                  <a:schemeClr val="dk1"/>
                </a:solidFill>
              </a:rPr>
              <a:t>Class 1 (Minority Class):</a:t>
            </a:r>
            <a:r>
              <a:rPr i="1" lang="en" sz="1300">
                <a:solidFill>
                  <a:schemeClr val="dk1"/>
                </a:solidFill>
              </a:rPr>
              <a:t> 80% recall (captures most minority class cases).</a:t>
            </a:r>
            <a:endParaRPr i="1" sz="1300">
              <a:solidFill>
                <a:schemeClr val="dk1"/>
              </a:solidFill>
            </a:endParaRPr>
          </a:p>
          <a:p>
            <a:pPr indent="-311150" lvl="0" marL="10858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➔"/>
            </a:pPr>
            <a:r>
              <a:rPr b="1" i="1" lang="en" sz="1300">
                <a:solidFill>
                  <a:schemeClr val="dk1"/>
                </a:solidFill>
              </a:rPr>
              <a:t>Class 2 (Majority Class):</a:t>
            </a:r>
            <a:r>
              <a:rPr i="1" lang="en" sz="1300">
                <a:solidFill>
                  <a:schemeClr val="dk1"/>
                </a:solidFill>
              </a:rPr>
              <a:t> 100% recall (perfect classification).</a:t>
            </a:r>
            <a:endParaRPr i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i="1" lang="en" sz="1300">
                <a:solidFill>
                  <a:schemeClr val="dk1"/>
                </a:solidFill>
              </a:rPr>
              <a:t>Best F1-score:</a:t>
            </a:r>
            <a:r>
              <a:rPr i="1" lang="en" sz="1300">
                <a:solidFill>
                  <a:schemeClr val="dk1"/>
                </a:solidFill>
              </a:rPr>
              <a:t> Maintains a balance between precision and recall.</a:t>
            </a:r>
            <a:endParaRPr i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i="1"/>
          </a:p>
        </p:txBody>
      </p:sp>
      <p:pic>
        <p:nvPicPr>
          <p:cNvPr id="180" name="Google Shape;18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2975" y="2766675"/>
            <a:ext cx="3349567" cy="23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4100" y="0"/>
            <a:ext cx="2109899" cy="181377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 txBox="1"/>
          <p:nvPr>
            <p:ph idx="1" type="body"/>
          </p:nvPr>
        </p:nvSpPr>
        <p:spPr>
          <a:xfrm>
            <a:off x="299100" y="410800"/>
            <a:ext cx="7841700" cy="46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-31600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6209"/>
              <a:buChar char="●"/>
            </a:pPr>
            <a:r>
              <a:rPr b="1" i="1" lang="en" sz="2286">
                <a:solidFill>
                  <a:schemeClr val="dk1"/>
                </a:solidFill>
              </a:rPr>
              <a:t>No Overfitting:</a:t>
            </a:r>
            <a:r>
              <a:rPr lang="en" sz="1986">
                <a:solidFill>
                  <a:schemeClr val="dk1"/>
                </a:solidFill>
              </a:rPr>
              <a:t> </a:t>
            </a:r>
            <a:r>
              <a:rPr i="1" lang="en" sz="2286">
                <a:solidFill>
                  <a:schemeClr val="dk1"/>
                </a:solidFill>
              </a:rPr>
              <a:t>Maintained high accuracy on both training (100%) and test (97.85%) data.</a:t>
            </a:r>
            <a:endParaRPr b="1" i="1" sz="2286">
              <a:solidFill>
                <a:schemeClr val="dk1"/>
              </a:solidFill>
            </a:endParaRPr>
          </a:p>
          <a:p>
            <a:pPr indent="-31944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i="1" lang="en" sz="2286">
                <a:solidFill>
                  <a:schemeClr val="dk1"/>
                </a:solidFill>
              </a:rPr>
              <a:t>Confusion Matrix Insight:</a:t>
            </a:r>
            <a:endParaRPr b="1" i="1" sz="2286">
              <a:solidFill>
                <a:schemeClr val="dk1"/>
              </a:solidFill>
            </a:endParaRPr>
          </a:p>
          <a:p>
            <a:pPr indent="-319446" lvl="0" marL="10858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➔"/>
            </a:pPr>
            <a:r>
              <a:rPr b="1" i="1" lang="en" sz="2286">
                <a:solidFill>
                  <a:schemeClr val="dk1"/>
                </a:solidFill>
              </a:rPr>
              <a:t>Class 1:</a:t>
            </a:r>
            <a:r>
              <a:rPr i="1" lang="en" sz="2286">
                <a:solidFill>
                  <a:schemeClr val="dk1"/>
                </a:solidFill>
              </a:rPr>
              <a:t> 137 correctly classified, 35 misclassified.</a:t>
            </a:r>
            <a:endParaRPr i="1" sz="2286">
              <a:solidFill>
                <a:schemeClr val="dk1"/>
              </a:solidFill>
            </a:endParaRPr>
          </a:p>
          <a:p>
            <a:pPr indent="-319446" lvl="0" marL="10858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Char char="➔"/>
            </a:pPr>
            <a:r>
              <a:rPr b="1" i="1" lang="en" sz="2286">
                <a:solidFill>
                  <a:schemeClr val="dk1"/>
                </a:solidFill>
              </a:rPr>
              <a:t>Class 2:</a:t>
            </a:r>
            <a:r>
              <a:rPr i="1" lang="en" sz="2286">
                <a:solidFill>
                  <a:schemeClr val="dk1"/>
                </a:solidFill>
              </a:rPr>
              <a:t> 1455 correctly classified, </a:t>
            </a:r>
            <a:r>
              <a:rPr b="1" i="1" lang="en" sz="2286">
                <a:solidFill>
                  <a:schemeClr val="dk1"/>
                </a:solidFill>
              </a:rPr>
              <a:t>0 misclassified</a:t>
            </a:r>
            <a:r>
              <a:rPr i="1" lang="en" sz="2286">
                <a:solidFill>
                  <a:schemeClr val="dk1"/>
                </a:solidFill>
              </a:rPr>
              <a:t> (perfect identification).</a:t>
            </a:r>
            <a:endParaRPr i="1" sz="2286">
              <a:solidFill>
                <a:schemeClr val="dk1"/>
              </a:solidFill>
            </a:endParaRPr>
          </a:p>
          <a:p>
            <a:pPr indent="-31944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i="1" lang="en" sz="2286">
                <a:solidFill>
                  <a:schemeClr val="dk1"/>
                </a:solidFill>
              </a:rPr>
              <a:t>No Feature Selection Applied:</a:t>
            </a:r>
            <a:r>
              <a:rPr i="1" lang="en" sz="2286">
                <a:solidFill>
                  <a:schemeClr val="dk1"/>
                </a:solidFill>
              </a:rPr>
              <a:t> The model performed best using all available features.</a:t>
            </a:r>
            <a:endParaRPr i="1" sz="2286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205713"/>
              <a:buNone/>
            </a:pPr>
            <a:r>
              <a:t/>
            </a:r>
            <a:endParaRPr i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59999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9999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9999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61818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61818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59999"/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87" name="Google Shape;18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5500" y="2417400"/>
            <a:ext cx="3525075" cy="220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Thank You!</a:t>
            </a:r>
            <a:endParaRPr/>
          </a:p>
        </p:txBody>
      </p:sp>
      <p:pic>
        <p:nvPicPr>
          <p:cNvPr id="193" name="Google Shape;19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4100" y="0"/>
            <a:ext cx="2109899" cy="1813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